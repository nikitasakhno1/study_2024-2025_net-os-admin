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12.02.2026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№9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установке и простейшему конфигурированию POP3/IMAP-сервера.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на виртуальной машине </a:t>
            </a:r>
            <a:r>
              <a:rPr lang="ru-RU" dirty="0" err="1"/>
              <a:t>server</a:t>
            </a:r>
            <a:r>
              <a:rPr lang="ru-RU" dirty="0"/>
              <a:t> </a:t>
            </a:r>
            <a:r>
              <a:rPr lang="ru-RU" dirty="0" err="1"/>
              <a:t>Dovecot</a:t>
            </a:r>
            <a:r>
              <a:rPr lang="ru-RU" dirty="0"/>
              <a:t> и </a:t>
            </a:r>
            <a:r>
              <a:rPr lang="ru-RU" dirty="0" err="1"/>
              <a:t>Telnet</a:t>
            </a:r>
            <a:r>
              <a:rPr lang="ru-RU" dirty="0"/>
              <a:t> для дальнейшей проверки корректности работы почтового сервера.</a:t>
            </a:r>
          </a:p>
          <a:p>
            <a:pPr lvl="0"/>
            <a:r>
              <a:rPr lang="ru-RU" dirty="0"/>
              <a:t>Настроить </a:t>
            </a:r>
            <a:r>
              <a:rPr lang="ru-RU" dirty="0" err="1"/>
              <a:t>Dovecot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Установить на виртуальной машине </a:t>
            </a:r>
            <a:r>
              <a:rPr lang="ru-RU" dirty="0" err="1"/>
              <a:t>client</a:t>
            </a:r>
            <a:r>
              <a:rPr lang="ru-RU" dirty="0"/>
              <a:t> программу для чтения почты Evolution и настройте её для манипуляций с почтой вашего пользователя. Проверить корректность работы почтового сервера как с виртуальной машины </a:t>
            </a:r>
            <a:r>
              <a:rPr lang="ru-RU" dirty="0" err="1"/>
              <a:t>server</a:t>
            </a:r>
            <a:r>
              <a:rPr lang="ru-RU" dirty="0"/>
              <a:t>, так и с виртуальной машины </a:t>
            </a:r>
            <a:r>
              <a:rPr lang="ru-RU" dirty="0" err="1"/>
              <a:t>client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Изменить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и настройке </a:t>
            </a:r>
            <a:r>
              <a:rPr lang="ru-RU" dirty="0" err="1"/>
              <a:t>Postfix</a:t>
            </a:r>
            <a:r>
              <a:rPr lang="ru-RU" dirty="0"/>
              <a:t> и </a:t>
            </a:r>
            <a:r>
              <a:rPr lang="ru-RU" dirty="0" err="1"/>
              <a:t>Dovecote</a:t>
            </a:r>
            <a:r>
              <a:rPr lang="ru-RU" dirty="0"/>
              <a:t>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, создать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Evolution во внутреннем окружении виртуальной машины </a:t>
            </a:r>
            <a:r>
              <a:rPr lang="ru-RU" dirty="0" err="1"/>
              <a:t>client</a:t>
            </a:r>
            <a:r>
              <a:rPr lang="ru-RU" dirty="0"/>
              <a:t>. Соответствующим образом внести изменения в </a:t>
            </a:r>
            <a:r>
              <a:rPr lang="ru-RU" dirty="0" err="1"/>
              <a:t>Vagrantfile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Picture" descr="Установка пакетов" title="fig:">
            <a:extLst>
              <a:ext uri="{FF2B5EF4-FFF2-40B4-BE49-F238E27FC236}">
                <a16:creationId xmlns:a16="http://schemas.microsoft.com/office/drawing/2014/main" id="{7182B67C-65BC-CF14-402D-F8EAF2E1891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16798"/>
          <a:stretch/>
        </p:blipFill>
        <p:spPr bwMode="auto">
          <a:xfrm>
            <a:off x="635457" y="1109278"/>
            <a:ext cx="10916463" cy="3133537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№2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3878BAFD-5C0C-CAB4-BD40-ADD61679799F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1349954"/>
            <a:ext cx="10916463" cy="2892862"/>
          </a:xfrm>
          <a:prstGeom prst="rect">
            <a:avLst/>
          </a:prstGeom>
          <a:noFill/>
        </p:spPr>
      </p:pic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AC16A750-7524-0A06-3B5E-415068F8674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5457" y="640080"/>
            <a:ext cx="7624836" cy="3602736"/>
          </a:xfrm>
          <a:prstGeom prst="rect">
            <a:avLst/>
          </a:prstGeom>
          <a:noFill/>
        </p:spPr>
      </p:pic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Rectangle 71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409BE0B-855F-267B-71FF-7BC61D8720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183792" cy="3602736"/>
          </a:xfrm>
          <a:prstGeom prst="rect">
            <a:avLst/>
          </a:prstGeom>
          <a:noFill/>
        </p:spPr>
      </p:pic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 №1</a:t>
            </a:r>
          </a:p>
        </p:txBody>
      </p:sp>
      <p:pic>
        <p:nvPicPr>
          <p:cNvPr id="5" name="Объект 4" descr="Изображение выглядит как текст, Шриф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9D22B2E-A5F3-9FD9-AA5C-842E62F9FE8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1759320"/>
            <a:ext cx="10916463" cy="2483495"/>
          </a:xfrm>
          <a:prstGeom prst="rect">
            <a:avLst/>
          </a:prstGeom>
          <a:noFill/>
        </p:spPr>
      </p:pic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Rectangle 67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D659639-99B2-6527-6011-6CFBEA4E7B8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1977652"/>
            <a:ext cx="10916463" cy="2265164"/>
          </a:xfrm>
          <a:prstGeom prst="rect">
            <a:avLst/>
          </a:prstGeom>
          <a:noFill/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F1EF096-B1B4-5D23-A701-B707294993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963192"/>
            <a:ext cx="10916463" cy="3279623"/>
          </a:xfrm>
          <a:prstGeom prst="rect">
            <a:avLst/>
          </a:prstGeom>
          <a:noFill/>
        </p:spPr>
      </p:pic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6" name="Picture" descr="Установка пакетов" title="fig:">
            <a:extLst>
              <a:ext uri="{FF2B5EF4-FFF2-40B4-BE49-F238E27FC236}">
                <a16:creationId xmlns:a16="http://schemas.microsoft.com/office/drawing/2014/main" id="{F5DA1368-2ED4-2BDB-7382-907573D1E33C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-680" t="27325" r="680" b="2842"/>
          <a:stretch/>
        </p:blipFill>
        <p:spPr bwMode="auto">
          <a:xfrm>
            <a:off x="635457" y="640080"/>
            <a:ext cx="10165662" cy="360273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8CF0DB-8AFA-D234-CBCB-AC69EEEBA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7A4621-E1A0-B9C4-D0FA-9B32F96B4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0811EA3-0BE2-CD75-1F98-7C08415C7B3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479445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92070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C78B5-278B-D73C-FDC2-A58D684744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C4AAA502-5435-489E-9538-3A40E6C714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531DB6-B972-C8F2-1D89-985C00DFF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Объект 4" descr="Изображение выглядит как текст, снимок экрана, программное обеспечение, веб-страниц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3DCE830-1D1D-9AA1-E759-BA6A405CB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5457" y="640080"/>
            <a:ext cx="5521434" cy="3602736"/>
          </a:xfrm>
          <a:prstGeom prst="rect">
            <a:avLst/>
          </a:prstGeom>
          <a:noFill/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9AC0290-4702-4519-B0F4-C2A4688099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DE42378B-2E28-4810-8421-7A473A40E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D91DD17-237F-4811-BC0E-128EB1BD7C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6167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B237AA-5832-E406-6B58-812056D003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9">
            <a:extLst>
              <a:ext uri="{FF2B5EF4-FFF2-40B4-BE49-F238E27FC236}">
                <a16:creationId xmlns:a16="http://schemas.microsoft.com/office/drawing/2014/main" id="{25C8D2C1-DA83-420D-9635-D52CE066B5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5" name="Rectangle 11">
            <a:extLst>
              <a:ext uri="{FF2B5EF4-FFF2-40B4-BE49-F238E27FC236}">
                <a16:creationId xmlns:a16="http://schemas.microsoft.com/office/drawing/2014/main" id="{434F74C9-6A0B-409E-AD1C-45B58BE91B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6" name="Straight Connector 13">
            <a:extLst>
              <a:ext uri="{FF2B5EF4-FFF2-40B4-BE49-F238E27FC236}">
                <a16:creationId xmlns:a16="http://schemas.microsoft.com/office/drawing/2014/main" id="{F5486A9D-1265-4B57-91E6-68E666B978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7" name="Rectangle 15">
            <a:extLst>
              <a:ext uri="{FF2B5EF4-FFF2-40B4-BE49-F238E27FC236}">
                <a16:creationId xmlns:a16="http://schemas.microsoft.com/office/drawing/2014/main" id="{BE268116-E2A7-4F98-8812-192B4975E4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B711DF-B1A0-1A61-984A-87E55C9FA5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3999" y="4550229"/>
            <a:ext cx="10909073" cy="1057655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60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Задание</a:t>
            </a:r>
            <a:r>
              <a:rPr lang="en-US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№</a:t>
            </a:r>
            <a:r>
              <a:rPr lang="ru-RU" sz="60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4</a:t>
            </a:r>
            <a:endParaRPr lang="en-US" sz="6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" descr="Редактирование файла" title="fig:">
            <a:extLst>
              <a:ext uri="{FF2B5EF4-FFF2-40B4-BE49-F238E27FC236}">
                <a16:creationId xmlns:a16="http://schemas.microsoft.com/office/drawing/2014/main" id="{31159280-B7F7-C557-A2C8-600C94C5265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 t="15133" b="55907"/>
          <a:stretch>
            <a:fillRect/>
          </a:stretch>
        </p:blipFill>
        <p:spPr bwMode="auto">
          <a:xfrm>
            <a:off x="635457" y="640080"/>
            <a:ext cx="10916463" cy="3602736"/>
          </a:xfrm>
          <a:prstGeom prst="rect">
            <a:avLst/>
          </a:prstGeom>
          <a:noFill/>
        </p:spPr>
      </p:pic>
      <p:cxnSp>
        <p:nvCxnSpPr>
          <p:cNvPr id="28" name="Straight Connector 17">
            <a:extLst>
              <a:ext uri="{FF2B5EF4-FFF2-40B4-BE49-F238E27FC236}">
                <a16:creationId xmlns:a16="http://schemas.microsoft.com/office/drawing/2014/main" id="{73D8893D-DEBE-4F67-901F-166F75E9C6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086" y="5618770"/>
            <a:ext cx="10515600" cy="0"/>
          </a:xfrm>
          <a:prstGeom prst="line">
            <a:avLst/>
          </a:prstGeom>
          <a:ln w="6350">
            <a:solidFill>
              <a:schemeClr val="tx2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19">
            <a:extLst>
              <a:ext uri="{FF2B5EF4-FFF2-40B4-BE49-F238E27FC236}">
                <a16:creationId xmlns:a16="http://schemas.microsoft.com/office/drawing/2014/main" id="{FBEFFA83-BC6D-4CD2-A2BA-98AD67423B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0" name="Rectangle 21">
            <a:extLst>
              <a:ext uri="{FF2B5EF4-FFF2-40B4-BE49-F238E27FC236}">
                <a16:creationId xmlns:a16="http://schemas.microsoft.com/office/drawing/2014/main" id="{AB5696BF-D495-4CAC-AA8A-4EBFF2C32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24359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CBDD444F-82F6-08DE-7FAA-932B40C1CB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lvl="0"/>
            <a:r>
              <a:rPr lang="ru-RU" dirty="0"/>
              <a:t>За что отвечает протокол SMTP?</a:t>
            </a:r>
          </a:p>
          <a:p>
            <a:r>
              <a:rPr lang="ru-RU" dirty="0"/>
              <a:t>Это сетевой протокол, который отвечает за отправление писем</a:t>
            </a:r>
          </a:p>
          <a:p>
            <a:pPr lvl="0"/>
            <a:r>
              <a:rPr lang="ru-RU" dirty="0"/>
              <a:t>За что отвечает протокол IMAP?</a:t>
            </a:r>
          </a:p>
          <a:p>
            <a:r>
              <a:rPr lang="ru-RU" dirty="0"/>
              <a:t>Он дает возможность почтовому клиенту получить доступ к сообщениям, хранящимся на почтовом сервере.</a:t>
            </a:r>
          </a:p>
          <a:p>
            <a:pPr lvl="0"/>
            <a:r>
              <a:rPr lang="ru-RU" dirty="0"/>
              <a:t>За что отвечает протокол POP3?</a:t>
            </a:r>
          </a:p>
          <a:p>
            <a:r>
              <a:rPr lang="ru-RU" dirty="0"/>
              <a:t>Стандартный интернет-протокол прикладного уровня, используемый клиентами электронной почты для получения почты с удалённого сервера по TCP-соединению.</a:t>
            </a:r>
          </a:p>
          <a:p>
            <a:pPr lvl="0"/>
            <a:r>
              <a:rPr lang="ru-RU" dirty="0"/>
              <a:t>В чём назначение </a:t>
            </a:r>
            <a:r>
              <a:rPr lang="ru-RU" dirty="0" err="1"/>
              <a:t>Dovecot</a:t>
            </a:r>
            <a:r>
              <a:rPr lang="ru-RU" dirty="0"/>
              <a:t>?</a:t>
            </a:r>
          </a:p>
          <a:p>
            <a:r>
              <a:rPr lang="ru-RU" dirty="0"/>
              <a:t>Основная задача </a:t>
            </a:r>
            <a:r>
              <a:rPr lang="ru-RU" dirty="0" err="1"/>
              <a:t>Dovecot</a:t>
            </a:r>
            <a:r>
              <a:rPr lang="ru-RU" dirty="0"/>
              <a:t> – функционировать в качестве сервера для хранения электронной почты. Электронные письма доставляются на сервер с помощью агента доставки почты (MDA) и сохраняются для дальнейшего использования на сервере с помощью почтового клиента.</a:t>
            </a:r>
          </a:p>
          <a:p>
            <a:pPr lvl="0"/>
            <a:r>
              <a:rPr lang="ru-RU" dirty="0"/>
              <a:t>В каких файлах обычно находятся настройки работы </a:t>
            </a:r>
            <a:r>
              <a:rPr lang="ru-RU" dirty="0" err="1"/>
              <a:t>Dovecot</a:t>
            </a:r>
            <a:r>
              <a:rPr lang="ru-RU" dirty="0"/>
              <a:t>? За что отвечает каждый из файлов?</a:t>
            </a:r>
          </a:p>
          <a:p>
            <a:r>
              <a:rPr lang="ru-RU" dirty="0"/>
              <a:t>Конфигурация </a:t>
            </a:r>
            <a:r>
              <a:rPr lang="ru-RU" dirty="0" err="1"/>
              <a:t>Dovecot</a:t>
            </a:r>
            <a:r>
              <a:rPr lang="ru-RU" dirty="0"/>
              <a:t> располагается в файле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dovecot</a:t>
            </a:r>
            <a:r>
              <a:rPr lang="ru-RU" dirty="0"/>
              <a:t>/</a:t>
            </a:r>
            <a:r>
              <a:rPr lang="ru-RU" dirty="0" err="1"/>
              <a:t>dovecot.conf</a:t>
            </a:r>
            <a:r>
              <a:rPr lang="ru-RU" dirty="0"/>
              <a:t> и в файлах каталога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dovecot</a:t>
            </a:r>
            <a:r>
              <a:rPr lang="ru-RU" dirty="0"/>
              <a:t>/</a:t>
            </a:r>
            <a:r>
              <a:rPr lang="ru-RU" dirty="0" err="1"/>
              <a:t>conf.d</a:t>
            </a:r>
            <a:r>
              <a:rPr lang="ru-RU" dirty="0"/>
              <a:t>. Файл сертификатов безопасности </a:t>
            </a:r>
            <a:r>
              <a:rPr lang="ru-RU" dirty="0" err="1"/>
              <a:t>Dovecot</a:t>
            </a:r>
            <a:r>
              <a:rPr lang="ru-RU" dirty="0"/>
              <a:t> располагается в каталоге /</a:t>
            </a:r>
            <a:r>
              <a:rPr lang="ru-RU" dirty="0" err="1"/>
              <a:t>etc</a:t>
            </a:r>
            <a:r>
              <a:rPr lang="ru-RU" dirty="0"/>
              <a:t>/</a:t>
            </a:r>
            <a:r>
              <a:rPr lang="ru-RU" dirty="0" err="1"/>
              <a:t>pki</a:t>
            </a:r>
            <a:r>
              <a:rPr lang="ru-RU" dirty="0"/>
              <a:t>/</a:t>
            </a:r>
            <a:r>
              <a:rPr lang="ru-RU" dirty="0" err="1"/>
              <a:t>dovecot</a:t>
            </a:r>
            <a:r>
              <a:rPr lang="ru-RU" dirty="0"/>
              <a:t>.</a:t>
            </a:r>
          </a:p>
          <a:p>
            <a:pPr lvl="0"/>
            <a:r>
              <a:rPr lang="ru-RU" dirty="0"/>
              <a:t>В чём назначение </a:t>
            </a:r>
            <a:r>
              <a:rPr lang="ru-RU" dirty="0" err="1"/>
              <a:t>Postfix</a:t>
            </a:r>
            <a:r>
              <a:rPr lang="ru-RU" dirty="0"/>
              <a:t>?</a:t>
            </a:r>
          </a:p>
          <a:p>
            <a:r>
              <a:rPr lang="ru-RU" dirty="0" err="1"/>
              <a:t>Postfix</a:t>
            </a:r>
            <a:r>
              <a:rPr lang="ru-RU" dirty="0"/>
              <a:t> - это почтовый агент (MTA), используемый для маршрутизации и доставки электронной почты.</a:t>
            </a:r>
          </a:p>
          <a:p>
            <a:pPr lvl="0"/>
            <a:r>
              <a:rPr lang="ru-RU" dirty="0"/>
              <a:t>Какие методы аутентификации пользователей можно использовать в </a:t>
            </a:r>
            <a:r>
              <a:rPr lang="ru-RU" dirty="0" err="1"/>
              <a:t>Dovecot</a:t>
            </a:r>
            <a:r>
              <a:rPr lang="ru-RU" dirty="0"/>
              <a:t> и в чём их отличие?</a:t>
            </a:r>
          </a:p>
          <a:p>
            <a:r>
              <a:rPr lang="ru-RU" dirty="0"/>
              <a:t>В </a:t>
            </a:r>
            <a:r>
              <a:rPr lang="ru-RU" dirty="0" err="1"/>
              <a:t>Dovecot</a:t>
            </a:r>
            <a:r>
              <a:rPr lang="ru-RU" dirty="0"/>
              <a:t> можно использовать методы аутентификации, такие как </a:t>
            </a:r>
            <a:r>
              <a:rPr lang="ru-RU" dirty="0" err="1"/>
              <a:t>Plain</a:t>
            </a:r>
            <a:r>
              <a:rPr lang="ru-RU" dirty="0"/>
              <a:t>, CRAMMD5, Digest-MD5, NTLM и другие.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26B7652-2B72-FEF3-EF69-D61B8A380D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Контрольные вопросы</a:t>
            </a:r>
          </a:p>
        </p:txBody>
      </p:sp>
    </p:spTree>
    <p:extLst>
      <p:ext uri="{BB962C8B-B14F-4D97-AF65-F5344CB8AC3E}">
        <p14:creationId xmlns:p14="http://schemas.microsoft.com/office/powerpoint/2010/main" val="5859694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выполнения данной лабораторной работы я приобрел практические навыки по установке и простейшему конфигурированию POP3/IMAP-сервера.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66</TotalTime>
  <Words>395</Words>
  <Application>Microsoft Office PowerPoint</Application>
  <PresentationFormat>Широкоэкранный</PresentationFormat>
  <Paragraphs>38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Ретро</vt:lpstr>
      <vt:lpstr>Лабораторная работа №9</vt:lpstr>
      <vt:lpstr>Цель</vt:lpstr>
      <vt:lpstr>Задания</vt:lpstr>
      <vt:lpstr>Задание №1</vt:lpstr>
      <vt:lpstr>Задание №2</vt:lpstr>
      <vt:lpstr>Задание №2</vt:lpstr>
      <vt:lpstr>Задание №2</vt:lpstr>
      <vt:lpstr>Задание №1</vt:lpstr>
      <vt:lpstr>Задание №3</vt:lpstr>
      <vt:lpstr>Задание №3</vt:lpstr>
      <vt:lpstr>Задание №3</vt:lpstr>
      <vt:lpstr>Задание №3</vt:lpstr>
      <vt:lpstr>Задание №3</vt:lpstr>
      <vt:lpstr>Задание №4</vt:lpstr>
      <vt:lpstr>Контрольные вопросы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2026-02-12T09:35:29Z</dcterms:modified>
</cp:coreProperties>
</file>