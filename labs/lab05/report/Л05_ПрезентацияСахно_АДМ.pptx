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7" r:id="rId10"/>
    <p:sldId id="268" r:id="rId11"/>
    <p:sldId id="271" r:id="rId12"/>
    <p:sldId id="270" r:id="rId13"/>
    <p:sldId id="272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Светлый стиль 1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8" d="100"/>
          <a:sy n="48" d="100"/>
        </p:scale>
        <p:origin x="53" y="7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10.02.2026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4918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10.02.2026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61761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10.02.2026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62521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10.02.2026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0861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10.02.2026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49527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10.02.2026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08142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10.02.2026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32820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FBBBA55-F83A-41C2-B204-1B75327CE053}" type="datetimeFigureOut">
              <a:rPr lang="ru-RU" smtClean="0"/>
              <a:t>10.02.2026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41900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10.02.2026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6694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10.02.2026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8717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10.02.2026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30709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3FBBBA55-F83A-41C2-B204-1B75327CE053}" type="datetimeFigureOut">
              <a:rPr lang="ru-RU" smtClean="0"/>
              <a:t>10.02.2026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2494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994FB7-0D81-8028-4D4F-26589969672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Лабораторная работа №5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FF30943-BDE7-0773-3069-C6EF15BA5C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73068" y="4653155"/>
            <a:ext cx="6801612" cy="1239894"/>
          </a:xfrm>
        </p:spPr>
        <p:txBody>
          <a:bodyPr/>
          <a:lstStyle/>
          <a:p>
            <a:pPr algn="r"/>
            <a:r>
              <a:rPr lang="ru-RU" dirty="0"/>
              <a:t>Студент: Сахно</a:t>
            </a:r>
          </a:p>
          <a:p>
            <a:pPr algn="r"/>
            <a:r>
              <a:rPr lang="ru-RU" dirty="0"/>
              <a:t>Группа: нфибд-02-23</a:t>
            </a:r>
          </a:p>
        </p:txBody>
      </p:sp>
    </p:spTree>
    <p:extLst>
      <p:ext uri="{BB962C8B-B14F-4D97-AF65-F5344CB8AC3E}">
        <p14:creationId xmlns:p14="http://schemas.microsoft.com/office/powerpoint/2010/main" val="32368078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48D3AD-E653-E8F9-3AF6-3D2273D8F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07B806B-E27B-8C11-8391-857A41C6BB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3269640"/>
            <a:ext cx="7729728" cy="3101983"/>
          </a:xfrm>
        </p:spPr>
        <p:txBody>
          <a:bodyPr/>
          <a:lstStyle/>
          <a:p>
            <a:r>
              <a:rPr lang="ru-RU" dirty="0"/>
              <a:t>Приобрести практические навыки по расширенному конфигурированию HTTP-сервера Apache в части безопасности и возможности использования PHP.</a:t>
            </a:r>
          </a:p>
        </p:txBody>
      </p:sp>
    </p:spTree>
    <p:extLst>
      <p:ext uri="{BB962C8B-B14F-4D97-AF65-F5344CB8AC3E}">
        <p14:creationId xmlns:p14="http://schemas.microsoft.com/office/powerpoint/2010/main" val="3368061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015AFF-8544-7267-7FA0-291CE43EE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0135205-CF8E-3D55-AEA3-19151361FB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ru-RU" dirty="0"/>
              <a:t>Сгенерировать криптографический ключ и </a:t>
            </a:r>
            <a:r>
              <a:rPr lang="ru-RU" dirty="0" err="1"/>
              <a:t>самоподписанный</a:t>
            </a:r>
            <a:r>
              <a:rPr lang="ru-RU" dirty="0"/>
              <a:t> сертификат безопасности для возможности перехода веб-сервера от работы через протокол HTTP к работе через протокол HTTPS;</a:t>
            </a:r>
          </a:p>
          <a:p>
            <a:pPr lvl="0"/>
            <a:r>
              <a:rPr lang="ru-RU" dirty="0"/>
              <a:t>Настроить веб-сервер для работы с PHP;</a:t>
            </a:r>
          </a:p>
          <a:p>
            <a:pPr lvl="0"/>
            <a:r>
              <a:rPr lang="ru-RU" dirty="0"/>
              <a:t>Написать скрипт для </a:t>
            </a:r>
            <a:r>
              <a:rPr lang="ru-RU" dirty="0" err="1"/>
              <a:t>Vagrant</a:t>
            </a:r>
            <a:r>
              <a:rPr lang="ru-RU" dirty="0"/>
              <a:t>, фиксирующий действия по расширенной настройке HTTP-сервера во внутреннем окружении виртуальной машины </a:t>
            </a:r>
            <a:r>
              <a:rPr lang="ru-RU" dirty="0" err="1"/>
              <a:t>server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28520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>
            <a:extLst>
              <a:ext uri="{FF2B5EF4-FFF2-40B4-BE49-F238E27FC236}">
                <a16:creationId xmlns:a16="http://schemas.microsoft.com/office/drawing/2014/main" id="{4E4490D0-3672-446A-AC12-B4830333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39CB82C2-DF65-4EC1-8280-F201D50F5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7E1D4427-852B-4B37-8E76-0E9F1810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51" name="Rectangle 50">
            <a:extLst>
              <a:ext uri="{FF2B5EF4-FFF2-40B4-BE49-F238E27FC236}">
                <a16:creationId xmlns:a16="http://schemas.microsoft.com/office/drawing/2014/main" id="{8D0DE514-8876-4D18-A995-61A5C1F813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4904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09DA791C-FFCF-422E-8775-BDA6C0E5EC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37BECA-E840-6617-E8A6-0F258CBDC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5197" y="5120640"/>
            <a:ext cx="10058400" cy="82296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>
                <a:solidFill>
                  <a:srgbClr val="FFFFFF"/>
                </a:solidFill>
              </a:rPr>
              <a:t>Задание №1</a:t>
            </a:r>
          </a:p>
        </p:txBody>
      </p:sp>
      <p:pic>
        <p:nvPicPr>
          <p:cNvPr id="6" name="Picture" descr="Создание каталога private" title="fig:">
            <a:extLst>
              <a:ext uri="{FF2B5EF4-FFF2-40B4-BE49-F238E27FC236}">
                <a16:creationId xmlns:a16="http://schemas.microsoft.com/office/drawing/2014/main" id="{4E13F546-B723-127E-B9A3-121406229609}"/>
              </a:ext>
            </a:extLst>
          </p:cNvPr>
          <p:cNvPicPr>
            <a:picLocks noGrp="1"/>
          </p:cNvPicPr>
          <p:nvPr>
            <p:ph idx="1"/>
          </p:nvPr>
        </p:nvPicPr>
        <p:blipFill rotWithShape="1">
          <a:blip r:embed="rId2"/>
          <a:srcRect l="36343" t="31260"/>
          <a:stretch>
            <a:fillRect/>
          </a:stretch>
        </p:blipFill>
        <p:spPr bwMode="auto">
          <a:xfrm>
            <a:off x="633999" y="1258337"/>
            <a:ext cx="10925102" cy="2388988"/>
          </a:xfrm>
          <a:prstGeom prst="rect">
            <a:avLst/>
          </a:prstGeom>
          <a:noFill/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5" name="Rectangle 54">
            <a:extLst>
              <a:ext uri="{FF2B5EF4-FFF2-40B4-BE49-F238E27FC236}">
                <a16:creationId xmlns:a16="http://schemas.microsoft.com/office/drawing/2014/main" id="{0DCF8855-3530-4F46-A4CB-3B6686EEE4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4906176"/>
            <a:ext cx="12188952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17233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4E4490D0-3672-446A-AC12-B4830333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9CB82C2-DF65-4EC1-8280-F201D50F5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7E1D4427-852B-4B37-8E76-0E9F1810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FA4CD5CB-D209-4D70-8CA4-629731C59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8AF86C-F680-9FF1-098E-834E54A0FC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1110" y="639097"/>
            <a:ext cx="3401961" cy="368601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>
                <a:solidFill>
                  <a:schemeClr val="tx1">
                    <a:lumMod val="85000"/>
                    <a:lumOff val="15000"/>
                  </a:schemeClr>
                </a:solidFill>
              </a:rPr>
              <a:t>Задание №1</a:t>
            </a:r>
          </a:p>
        </p:txBody>
      </p:sp>
      <p:pic>
        <p:nvPicPr>
          <p:cNvPr id="5" name="Объект 4" descr="Изображение выглядит как текст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D9D20FA-26DB-EE92-6F25-6834CB2346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3999" y="963890"/>
            <a:ext cx="6912217" cy="4406538"/>
          </a:xfrm>
          <a:prstGeom prst="rect">
            <a:avLst/>
          </a:prstGeom>
          <a:noFill/>
        </p:spPr>
      </p:pic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5C6A2BAE-B461-4B55-8E1F-0722ABDD13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209305" y="4343400"/>
            <a:ext cx="32004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B4C27B90-DF2B-4D00-BA07-18ED774CD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593ACC25-C262-417A-8AA9-0641C772BD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117442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>
            <a:extLst>
              <a:ext uri="{FF2B5EF4-FFF2-40B4-BE49-F238E27FC236}">
                <a16:creationId xmlns:a16="http://schemas.microsoft.com/office/drawing/2014/main" id="{4E4490D0-3672-446A-AC12-B4830333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39CB82C2-DF65-4EC1-8280-F201D50F5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7E1D4427-852B-4B37-8E76-0E9F1810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51" name="Rectangle 50">
            <a:extLst>
              <a:ext uri="{FF2B5EF4-FFF2-40B4-BE49-F238E27FC236}">
                <a16:creationId xmlns:a16="http://schemas.microsoft.com/office/drawing/2014/main" id="{FA4CD5CB-D209-4D70-8CA4-629731C59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88535E-2431-BF85-E4A6-C59C43DFCC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1110" y="639097"/>
            <a:ext cx="3401961" cy="368601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>
                <a:solidFill>
                  <a:schemeClr val="tx1">
                    <a:lumMod val="85000"/>
                    <a:lumOff val="15000"/>
                  </a:schemeClr>
                </a:solidFill>
              </a:rPr>
              <a:t>Задание №1</a:t>
            </a:r>
          </a:p>
        </p:txBody>
      </p:sp>
      <p:pic>
        <p:nvPicPr>
          <p:cNvPr id="3" name="Picture" descr="Наличие ключа в каталоге" title="fig:">
            <a:extLst>
              <a:ext uri="{FF2B5EF4-FFF2-40B4-BE49-F238E27FC236}">
                <a16:creationId xmlns:a16="http://schemas.microsoft.com/office/drawing/2014/main" id="{89E5F00B-69C8-CA3F-FC23-5492CC0229CB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633999" y="2138966"/>
            <a:ext cx="6912217" cy="2056385"/>
          </a:xfrm>
          <a:prstGeom prst="rect">
            <a:avLst/>
          </a:prstGeom>
          <a:noFill/>
        </p:spPr>
      </p:pic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5C6A2BAE-B461-4B55-8E1F-0722ABDD13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209305" y="4343400"/>
            <a:ext cx="32004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ectangle 54">
            <a:extLst>
              <a:ext uri="{FF2B5EF4-FFF2-40B4-BE49-F238E27FC236}">
                <a16:creationId xmlns:a16="http://schemas.microsoft.com/office/drawing/2014/main" id="{B4C27B90-DF2B-4D00-BA07-18ED774CD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593ACC25-C262-417A-8AA9-0641C772BD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71195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4E4490D0-3672-446A-AC12-B4830333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9CB82C2-DF65-4EC1-8280-F201D50F5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7E1D4427-852B-4B37-8E76-0E9F1810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FA4CD5CB-D209-4D70-8CA4-629731C59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FEF604-B7AC-3050-7B7D-98387F266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1110" y="639097"/>
            <a:ext cx="3401961" cy="368601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Задание</a:t>
            </a:r>
            <a:r>
              <a:rPr lang="en-US" sz="6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№</a:t>
            </a:r>
            <a:r>
              <a:rPr lang="ru-RU" sz="6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</a:t>
            </a:r>
            <a:endParaRPr lang="en-US" sz="6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5" name="Picture" descr="Наличие сертификата в каталоге" title="fig:">
            <a:extLst>
              <a:ext uri="{FF2B5EF4-FFF2-40B4-BE49-F238E27FC236}">
                <a16:creationId xmlns:a16="http://schemas.microsoft.com/office/drawing/2014/main" id="{ACB8970A-5E14-9543-D513-660116D98B24}"/>
              </a:ext>
            </a:extLst>
          </p:cNvPr>
          <p:cNvPicPr>
            <a:picLocks noGrp="1"/>
          </p:cNvPicPr>
          <p:nvPr>
            <p:ph idx="1"/>
          </p:nvPr>
        </p:nvPicPr>
        <p:blipFill rotWithShape="1">
          <a:blip r:embed="rId2"/>
          <a:srcRect b="50000"/>
          <a:stretch/>
        </p:blipFill>
        <p:spPr bwMode="auto">
          <a:xfrm>
            <a:off x="633999" y="2601221"/>
            <a:ext cx="6912217" cy="1131875"/>
          </a:xfrm>
          <a:prstGeom prst="rect">
            <a:avLst/>
          </a:prstGeom>
          <a:noFill/>
          <a:extLst>
            <a:ext uri="{53640926-AAD7-44D8-BBD7-CCE9431645EC}">
              <a14:shadowObscured xmlns:a14="http://schemas.microsoft.com/office/drawing/2010/main"/>
            </a:ext>
          </a:extLst>
        </p:spPr>
      </p:pic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5C6A2BAE-B461-4B55-8E1F-0722ABDD13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209305" y="4343400"/>
            <a:ext cx="32004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B4C27B90-DF2B-4D00-BA07-18ED774CD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93ACC25-C262-417A-8AA9-0641C772BD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02783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4E4490D0-3672-446A-AC12-B4830333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9CB82C2-DF65-4EC1-8280-F201D50F5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7E1D4427-852B-4B37-8E76-0E9F1810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49" name="Rectangle 48">
            <a:extLst>
              <a:ext uri="{FF2B5EF4-FFF2-40B4-BE49-F238E27FC236}">
                <a16:creationId xmlns:a16="http://schemas.microsoft.com/office/drawing/2014/main" id="{8D0DE514-8876-4D18-A995-61A5C1F813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4904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09DA791C-FFCF-422E-8775-BDA6C0E5EC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A8C970-07E5-5256-49FB-35E0130400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5197" y="5120640"/>
            <a:ext cx="10058400" cy="82296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dirty="0" err="1">
                <a:solidFill>
                  <a:srgbClr val="FFFFFF"/>
                </a:solidFill>
              </a:rPr>
              <a:t>Задание</a:t>
            </a:r>
            <a:r>
              <a:rPr lang="en-US" sz="3600" dirty="0">
                <a:solidFill>
                  <a:srgbClr val="FFFFFF"/>
                </a:solidFill>
              </a:rPr>
              <a:t> №</a:t>
            </a:r>
            <a:r>
              <a:rPr lang="ru-RU" sz="3600" dirty="0">
                <a:solidFill>
                  <a:srgbClr val="FFFFFF"/>
                </a:solidFill>
              </a:rPr>
              <a:t>1</a:t>
            </a:r>
            <a:endParaRPr lang="en-US" sz="3600" dirty="0">
              <a:solidFill>
                <a:srgbClr val="FFFFFF"/>
              </a:solidFill>
            </a:endParaRPr>
          </a:p>
        </p:txBody>
      </p:sp>
      <p:pic>
        <p:nvPicPr>
          <p:cNvPr id="6" name="Объект 5" descr="Изображение выглядит как текст, снимок экрана, Шрифт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F4279A3-1DF1-6F42-B287-81DA4F4F55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3999" y="1401291"/>
            <a:ext cx="10925102" cy="2103080"/>
          </a:xfrm>
          <a:prstGeom prst="rect">
            <a:avLst/>
          </a:prstGeom>
          <a:noFill/>
        </p:spPr>
      </p:pic>
      <p:sp>
        <p:nvSpPr>
          <p:cNvPr id="53" name="Rectangle 52">
            <a:extLst>
              <a:ext uri="{FF2B5EF4-FFF2-40B4-BE49-F238E27FC236}">
                <a16:creationId xmlns:a16="http://schemas.microsoft.com/office/drawing/2014/main" id="{0DCF8855-3530-4F46-A4CB-3B6686EEE4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4906176"/>
            <a:ext cx="12188952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24763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4E4490D0-3672-446A-AC12-B4830333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9CB82C2-DF65-4EC1-8280-F201D50F5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7E1D4427-852B-4B37-8E76-0E9F1810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5A1B47C8-47A0-4A88-8830-6DEA3B5DE3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1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" descr="Установка пакетов для работыы с php" title="fig:">
            <a:extLst>
              <a:ext uri="{FF2B5EF4-FFF2-40B4-BE49-F238E27FC236}">
                <a16:creationId xmlns:a16="http://schemas.microsoft.com/office/drawing/2014/main" id="{FFE183EB-08C5-E920-B43A-08946EB121B0}"/>
              </a:ext>
            </a:extLst>
          </p:cNvPr>
          <p:cNvPicPr>
            <a:picLocks noGrp="1"/>
          </p:cNvPicPr>
          <p:nvPr>
            <p:ph idx="1"/>
          </p:nvPr>
        </p:nvPicPr>
        <p:blipFill rotWithShape="1">
          <a:blip r:embed="rId2"/>
          <a:srcRect t="4560"/>
          <a:stretch/>
        </p:blipFill>
        <p:spPr bwMode="auto">
          <a:xfrm>
            <a:off x="633999" y="2088849"/>
            <a:ext cx="6275667" cy="2680301"/>
          </a:xfrm>
          <a:prstGeom prst="rect">
            <a:avLst/>
          </a:prstGeom>
          <a:noFill/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984BBFDD-E720-4805-A9C8-129FBBF6DD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7613486" y="0"/>
            <a:ext cx="458473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867AB1-596F-AA84-8682-3CCD62781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6885" y="640080"/>
            <a:ext cx="3659246" cy="2926080"/>
          </a:xfrm>
        </p:spPr>
        <p:txBody>
          <a:bodyPr vert="horz" lIns="91440" tIns="45720" rIns="91440" bIns="45720" rtlCol="0" anchor="b" anchorCtr="1">
            <a:normAutofit/>
          </a:bodyPr>
          <a:lstStyle/>
          <a:p>
            <a:r>
              <a:rPr lang="en-US" sz="4400">
                <a:solidFill>
                  <a:srgbClr val="FFFFFF"/>
                </a:solidFill>
              </a:rPr>
              <a:t>Задание №2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AC4BE46-4A77-42FE-9D15-065CDB2F84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6906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03581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ectangle 59">
            <a:extLst>
              <a:ext uri="{FF2B5EF4-FFF2-40B4-BE49-F238E27FC236}">
                <a16:creationId xmlns:a16="http://schemas.microsoft.com/office/drawing/2014/main" id="{4E4490D0-3672-446A-AC12-B4830333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39CB82C2-DF65-4EC1-8280-F201D50F5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7E1D4427-852B-4B37-8E76-0E9F1810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66" name="Rectangle 65">
            <a:extLst>
              <a:ext uri="{FF2B5EF4-FFF2-40B4-BE49-F238E27FC236}">
                <a16:creationId xmlns:a16="http://schemas.microsoft.com/office/drawing/2014/main" id="{8D0DE514-8876-4D18-A995-61A5C1F813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4904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9DA791C-FFCF-422E-8775-BDA6C0E5EC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867AB1-596F-AA84-8682-3CCD62781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5197" y="5120640"/>
            <a:ext cx="10058400" cy="822960"/>
          </a:xfrm>
        </p:spPr>
        <p:txBody>
          <a:bodyPr vert="horz" lIns="91440" tIns="45720" rIns="91440" bIns="45720" rtlCol="0" anchor="b" anchorCtr="1">
            <a:normAutofit/>
          </a:bodyPr>
          <a:lstStyle/>
          <a:p>
            <a:r>
              <a:rPr lang="en-US" sz="3600">
                <a:solidFill>
                  <a:srgbClr val="FFFFFF"/>
                </a:solidFill>
              </a:rPr>
              <a:t>Задание №2</a:t>
            </a:r>
          </a:p>
        </p:txBody>
      </p:sp>
      <p:pic>
        <p:nvPicPr>
          <p:cNvPr id="5" name="Picture" descr="Редактирование файла index.php" title="fig:">
            <a:extLst>
              <a:ext uri="{FF2B5EF4-FFF2-40B4-BE49-F238E27FC236}">
                <a16:creationId xmlns:a16="http://schemas.microsoft.com/office/drawing/2014/main" id="{1C2F3F64-2F42-6D79-AB9A-4077C9665BCD}"/>
              </a:ext>
            </a:extLst>
          </p:cNvPr>
          <p:cNvPicPr>
            <a:picLocks noGrp="1"/>
          </p:cNvPicPr>
          <p:nvPr>
            <p:ph idx="1"/>
          </p:nvPr>
        </p:nvPicPr>
        <p:blipFill rotWithShape="1">
          <a:blip r:embed="rId2"/>
          <a:srcRect t="27669"/>
          <a:stretch/>
        </p:blipFill>
        <p:spPr bwMode="auto">
          <a:xfrm>
            <a:off x="633999" y="1652730"/>
            <a:ext cx="10925102" cy="1600202"/>
          </a:xfrm>
          <a:prstGeom prst="rect">
            <a:avLst/>
          </a:prstGeom>
          <a:noFill/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70" name="Rectangle 69">
            <a:extLst>
              <a:ext uri="{FF2B5EF4-FFF2-40B4-BE49-F238E27FC236}">
                <a16:creationId xmlns:a16="http://schemas.microsoft.com/office/drawing/2014/main" id="{0DCF8855-3530-4F46-A4CB-3B6686EEE4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4906176"/>
            <a:ext cx="12188952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03480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665873-4ED7-C3CB-7B2E-189B682CD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E4490D0-3672-446A-AC12-B4830333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9CB82C2-DF65-4EC1-8280-F201D50F5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E1D4427-852B-4B37-8E76-0E9F1810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8D0DE514-8876-4D18-A995-61A5C1F813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4904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9DA791C-FFCF-422E-8775-BDA6C0E5EC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A87105-2FFA-B360-7EE4-2A3BBCC11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5197" y="5120640"/>
            <a:ext cx="10058400" cy="822960"/>
          </a:xfrm>
        </p:spPr>
        <p:txBody>
          <a:bodyPr vert="horz" lIns="91440" tIns="45720" rIns="91440" bIns="45720" rtlCol="0" anchor="b" anchorCtr="1">
            <a:normAutofit/>
          </a:bodyPr>
          <a:lstStyle/>
          <a:p>
            <a:r>
              <a:rPr lang="en-US" sz="3600">
                <a:solidFill>
                  <a:srgbClr val="FFFFFF"/>
                </a:solidFill>
              </a:rPr>
              <a:t>Задание №2</a:t>
            </a:r>
          </a:p>
        </p:txBody>
      </p:sp>
      <p:pic>
        <p:nvPicPr>
          <p:cNvPr id="3" name="Объект 2" descr="Изображение выглядит как текст, электроника, снимок экрана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3FEC28F-2C6C-DE48-C9FD-53D13D0BD8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692174" y="643538"/>
            <a:ext cx="4808752" cy="3618586"/>
          </a:xfrm>
          <a:prstGeom prst="rect">
            <a:avLst/>
          </a:prstGeom>
          <a:noFill/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0DCF8855-3530-4F46-A4CB-3B6686EEE4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4906176"/>
            <a:ext cx="12188952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58069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>
            <a:extLst>
              <a:ext uri="{FF2B5EF4-FFF2-40B4-BE49-F238E27FC236}">
                <a16:creationId xmlns:a16="http://schemas.microsoft.com/office/drawing/2014/main" id="{CBDD444F-82F6-08DE-7FAA-932B40C1CB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0"/>
            <a:r>
              <a:rPr lang="ru-RU" dirty="0"/>
              <a:t>В чём отличие HTTP от HTTPS?</a:t>
            </a:r>
          </a:p>
          <a:p>
            <a:r>
              <a:rPr lang="ru-RU" dirty="0"/>
              <a:t>Отличие состоит в том, что HTTPS — расширение протокола HTTP для поддержки шифрования в целях повышения безопасности.</a:t>
            </a:r>
          </a:p>
          <a:p>
            <a:pPr lvl="0"/>
            <a:r>
              <a:rPr lang="ru-RU" dirty="0"/>
              <a:t>Каким образом обеспечивается безопасность контента веб-сервера при работе через HTTPS?</a:t>
            </a:r>
          </a:p>
          <a:p>
            <a:r>
              <a:rPr lang="ru-RU" dirty="0"/>
              <a:t>Улучшение безопасности при использовании HTTPS вместо HTTP достигается за счёт использования криптографических протоколов при организации HTTP-соединения и передачи по нему данных. Для шифрования может применяться протокол SSL (Secure </a:t>
            </a:r>
            <a:r>
              <a:rPr lang="ru-RU" dirty="0" err="1"/>
              <a:t>Sockets</a:t>
            </a:r>
            <a:r>
              <a:rPr lang="ru-RU" dirty="0"/>
              <a:t> Layer) или протокол TLC (Transport Layer Security). Оба протокола используют асимметричное шифрование для аутентификации, симметричное шифрование для конфиденциальности и коды аутентичности сообщений для сохранения целостности сообщений.</a:t>
            </a:r>
          </a:p>
          <a:p>
            <a:pPr lvl="0"/>
            <a:r>
              <a:rPr lang="ru-RU" dirty="0"/>
              <a:t>Что такое сертификационный центр? Приведите пример.</a:t>
            </a:r>
          </a:p>
          <a:p>
            <a:r>
              <a:rPr lang="ru-RU" dirty="0"/>
              <a:t>Сертификационный центр (</a:t>
            </a:r>
            <a:r>
              <a:rPr lang="ru-RU" dirty="0" err="1"/>
              <a:t>Certification</a:t>
            </a:r>
            <a:r>
              <a:rPr lang="ru-RU" dirty="0"/>
              <a:t> </a:t>
            </a:r>
            <a:r>
              <a:rPr lang="ru-RU" dirty="0" err="1"/>
              <a:t>authority</a:t>
            </a:r>
            <a:r>
              <a:rPr lang="ru-RU" dirty="0"/>
              <a:t>, CA) представляет собой компонент глобальной службы каталогов, отвечающий за управление криптографическими ключами пользователей.</a:t>
            </a:r>
          </a:p>
          <a:p>
            <a:endParaRPr lang="ru-RU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26B7652-2B72-FEF3-EF69-D61B8A380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Контрольные вопросы</a:t>
            </a:r>
          </a:p>
        </p:txBody>
      </p:sp>
    </p:spTree>
    <p:extLst>
      <p:ext uri="{BB962C8B-B14F-4D97-AF65-F5344CB8AC3E}">
        <p14:creationId xmlns:p14="http://schemas.microsoft.com/office/powerpoint/2010/main" val="5859694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90F8ED-0768-A418-5C5D-61B0ACEAE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>
            <a:extLst>
              <a:ext uri="{FF2B5EF4-FFF2-40B4-BE49-F238E27FC236}">
                <a16:creationId xmlns:a16="http://schemas.microsoft.com/office/drawing/2014/main" id="{450968C4-A5C3-3899-618C-EC74F33430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В процессе выполнения данной лабораторной работы я приобрел практические навыки по расширенному конфигурированию HTTP-сервера Apache в части безопасности и возможности использования PHP.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DD78F1C0-009A-B8EB-5099-A8B167000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Вывод:</a:t>
            </a:r>
          </a:p>
        </p:txBody>
      </p:sp>
    </p:spTree>
    <p:extLst>
      <p:ext uri="{BB962C8B-B14F-4D97-AF65-F5344CB8AC3E}">
        <p14:creationId xmlns:p14="http://schemas.microsoft.com/office/powerpoint/2010/main" val="2558702166"/>
      </p:ext>
    </p:extLst>
  </p:cSld>
  <p:clrMapOvr>
    <a:masterClrMapping/>
  </p:clrMapOvr>
</p:sld>
</file>

<file path=ppt/theme/theme1.xml><?xml version="1.0" encoding="utf-8"?>
<a:theme xmlns:a="http://schemas.openxmlformats.org/drawingml/2006/main" name="Ретро">
  <a:themeElements>
    <a:clrScheme name="Ретро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Ретр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Ретр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63</TotalTime>
  <Words>255</Words>
  <Application>Microsoft Office PowerPoint</Application>
  <PresentationFormat>Широкоэкранный</PresentationFormat>
  <Paragraphs>26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6" baseType="lpstr">
      <vt:lpstr>Calibri</vt:lpstr>
      <vt:lpstr>Calibri Light</vt:lpstr>
      <vt:lpstr>Ретро</vt:lpstr>
      <vt:lpstr>Лабораторная работа №5</vt:lpstr>
      <vt:lpstr>Цель</vt:lpstr>
      <vt:lpstr>Задания</vt:lpstr>
      <vt:lpstr>Задание №1</vt:lpstr>
      <vt:lpstr>Задание №1</vt:lpstr>
      <vt:lpstr>Задание №1</vt:lpstr>
      <vt:lpstr>Задание №1</vt:lpstr>
      <vt:lpstr>Задание №1</vt:lpstr>
      <vt:lpstr>Задание №2</vt:lpstr>
      <vt:lpstr>Задание №2</vt:lpstr>
      <vt:lpstr>Задание №2</vt:lpstr>
      <vt:lpstr>Контрольные вопросы</vt:lpstr>
      <vt:lpstr>Вывод: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Лабораторная работа №6</dc:title>
  <dc:creator>Беличева Дарья Михайловна</dc:creator>
  <cp:lastModifiedBy>Никита Сахно</cp:lastModifiedBy>
  <cp:revision>23</cp:revision>
  <dcterms:created xsi:type="dcterms:W3CDTF">2023-10-14T19:58:32Z</dcterms:created>
  <dcterms:modified xsi:type="dcterms:W3CDTF">2026-02-10T14:12:28Z</dcterms:modified>
</cp:coreProperties>
</file>