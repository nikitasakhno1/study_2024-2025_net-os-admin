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0"/>
    <p:sldId id="268" r:id="rId11"/>
    <p:sldId id="271" r:id="rId12"/>
    <p:sldId id="273" r:id="rId13"/>
    <p:sldId id="274" r:id="rId14"/>
    <p:sldId id="275" r:id="rId15"/>
    <p:sldId id="276" r:id="rId16"/>
    <p:sldId id="272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Светлый стиль 1 — акцент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49189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6176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62521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0861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49527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08142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932820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FBBBA55-F83A-41C2-B204-1B75327CE053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41900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69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8717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BBA55-F83A-41C2-B204-1B75327CE053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3070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FBBBA55-F83A-41C2-B204-1B75327CE053}" type="datetimeFigureOut">
              <a:rPr lang="ru-RU" smtClean="0"/>
              <a:t>11.02.2026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C2D0AB4-5882-438D-9AC6-FCB2B1AF6F0E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22494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994FB7-0D81-8028-4D4F-2658996967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Лабораторная работа №6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FF30943-BDE7-0773-3069-C6EF15BA5C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73068" y="4653155"/>
            <a:ext cx="6801612" cy="1239894"/>
          </a:xfrm>
        </p:spPr>
        <p:txBody>
          <a:bodyPr/>
          <a:lstStyle/>
          <a:p>
            <a:pPr algn="r"/>
            <a:r>
              <a:rPr lang="ru-RU" dirty="0"/>
              <a:t>Студент: Сахно</a:t>
            </a:r>
          </a:p>
          <a:p>
            <a:pPr algn="r"/>
            <a:r>
              <a:rPr lang="ru-RU" dirty="0"/>
              <a:t>Группа: нфибд-02-23</a:t>
            </a:r>
          </a:p>
        </p:txBody>
      </p:sp>
    </p:spTree>
    <p:extLst>
      <p:ext uri="{BB962C8B-B14F-4D97-AF65-F5344CB8AC3E}">
        <p14:creationId xmlns:p14="http://schemas.microsoft.com/office/powerpoint/2010/main" val="32368078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48D3AD-E653-E8F9-3AF6-3D2273D8F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Цель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07B806B-E27B-8C11-8391-857A41C6BB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31136" y="3269640"/>
            <a:ext cx="7729728" cy="3101983"/>
          </a:xfrm>
        </p:spPr>
        <p:txBody>
          <a:bodyPr/>
          <a:lstStyle/>
          <a:p>
            <a:r>
              <a:rPr lang="ru-RU" dirty="0"/>
              <a:t>Приобрести практические навыки по установке и конфигурированию системы управления базами данных на примере программного обеспечения </a:t>
            </a:r>
            <a:r>
              <a:rPr lang="ru-RU" dirty="0" err="1"/>
              <a:t>MariaDB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6806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015AFF-8544-7267-7FA0-291CE43EE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135205-CF8E-3D55-AEA3-19151361FB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ru-RU" dirty="0"/>
              <a:t>Установить необходимые для работы </a:t>
            </a:r>
            <a:r>
              <a:rPr lang="ru-RU" dirty="0" err="1"/>
              <a:t>MariaDB</a:t>
            </a:r>
            <a:r>
              <a:rPr lang="ru-RU" dirty="0"/>
              <a:t> пакеты (см. раздел 6.4.1).</a:t>
            </a:r>
          </a:p>
          <a:p>
            <a:pPr lvl="0"/>
            <a:r>
              <a:rPr lang="ru-RU" dirty="0"/>
              <a:t>Настроить в качестве кодировки символов по умолчанию utf8 в базах данных.</a:t>
            </a:r>
          </a:p>
          <a:p>
            <a:pPr lvl="0"/>
            <a:r>
              <a:rPr lang="ru-RU" dirty="0"/>
              <a:t>В базе данных </a:t>
            </a:r>
            <a:r>
              <a:rPr lang="ru-RU" dirty="0" err="1"/>
              <a:t>MariaDB</a:t>
            </a:r>
            <a:r>
              <a:rPr lang="ru-RU" dirty="0"/>
              <a:t> создать тестовую базу </a:t>
            </a:r>
            <a:r>
              <a:rPr lang="ru-RU" dirty="0" err="1"/>
              <a:t>addressbook</a:t>
            </a:r>
            <a:r>
              <a:rPr lang="ru-RU" dirty="0"/>
              <a:t>, содержащую таблицу </a:t>
            </a:r>
            <a:r>
              <a:rPr lang="ru-RU" dirty="0" err="1"/>
              <a:t>city</a:t>
            </a:r>
            <a:r>
              <a:rPr lang="ru-RU" dirty="0"/>
              <a:t> с полями </a:t>
            </a:r>
            <a:r>
              <a:rPr lang="ru-RU" dirty="0" err="1"/>
              <a:t>name</a:t>
            </a:r>
            <a:r>
              <a:rPr lang="ru-RU" dirty="0"/>
              <a:t> и </a:t>
            </a:r>
            <a:r>
              <a:rPr lang="ru-RU" dirty="0" err="1"/>
              <a:t>city</a:t>
            </a:r>
            <a:r>
              <a:rPr lang="ru-RU" dirty="0"/>
              <a:t>, т.е., например, для некоторого сотрудника указан город, в котором он работает.</a:t>
            </a:r>
          </a:p>
          <a:p>
            <a:pPr lvl="0"/>
            <a:r>
              <a:rPr lang="ru-RU" dirty="0"/>
              <a:t>Создать резервную копию базы данных </a:t>
            </a:r>
            <a:r>
              <a:rPr lang="ru-RU" dirty="0" err="1"/>
              <a:t>addressbook</a:t>
            </a:r>
            <a:r>
              <a:rPr lang="ru-RU" dirty="0"/>
              <a:t> и восстановите из неё данные.</a:t>
            </a:r>
          </a:p>
          <a:p>
            <a:pPr lvl="0"/>
            <a:r>
              <a:rPr lang="ru-RU" dirty="0"/>
              <a:t>Написать скрипт для </a:t>
            </a:r>
            <a:r>
              <a:rPr lang="ru-RU" dirty="0" err="1"/>
              <a:t>Vagrant</a:t>
            </a:r>
            <a:r>
              <a:rPr lang="ru-RU" dirty="0"/>
              <a:t>, фиксирующий действия по установке и настройке базы данных </a:t>
            </a:r>
            <a:r>
              <a:rPr lang="ru-RU" dirty="0" err="1"/>
              <a:t>MariaDB</a:t>
            </a:r>
            <a:r>
              <a:rPr lang="ru-RU" dirty="0"/>
              <a:t> во внутреннем окружении виртуальной машины </a:t>
            </a:r>
            <a:r>
              <a:rPr lang="ru-RU" dirty="0" err="1"/>
              <a:t>server</a:t>
            </a:r>
            <a:r>
              <a:rPr lang="ru-RU" dirty="0"/>
              <a:t>. Соответствующим образом внести изменения в </a:t>
            </a:r>
            <a:r>
              <a:rPr lang="ru-RU" dirty="0" err="1"/>
              <a:t>Vagrantfile</a:t>
            </a:r>
            <a:r>
              <a:rPr lang="ru-RU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28520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Rectangle 59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75" name="Rectangle 61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76" name="Straight Connector 63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77" name="Rectangle 65">
            <a:extLst>
              <a:ext uri="{FF2B5EF4-FFF2-40B4-BE49-F238E27FC236}">
                <a16:creationId xmlns:a16="http://schemas.microsoft.com/office/drawing/2014/main" id="{8D0DE514-8876-4D18-A995-61A5C1F81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49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67">
            <a:extLst>
              <a:ext uri="{FF2B5EF4-FFF2-40B4-BE49-F238E27FC236}">
                <a16:creationId xmlns:a16="http://schemas.microsoft.com/office/drawing/2014/main" id="{09DA791C-FFCF-422E-8775-BDA6C0E5E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137BECA-E840-6617-E8A6-0F258CBDC5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197" y="5120640"/>
            <a:ext cx="10058400" cy="8229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Задание №1</a:t>
            </a:r>
          </a:p>
        </p:txBody>
      </p:sp>
      <p:pic>
        <p:nvPicPr>
          <p:cNvPr id="5" name="Picture" descr="Установка пакетов" title="fig:">
            <a:extLst>
              <a:ext uri="{FF2B5EF4-FFF2-40B4-BE49-F238E27FC236}">
                <a16:creationId xmlns:a16="http://schemas.microsoft.com/office/drawing/2014/main" id="{954DB23A-E416-3E3A-C92B-FCB6B69B7A0A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t="28688"/>
          <a:stretch/>
        </p:blipFill>
        <p:spPr bwMode="auto">
          <a:xfrm>
            <a:off x="633999" y="982296"/>
            <a:ext cx="10925102" cy="2941070"/>
          </a:xfrm>
          <a:prstGeom prst="rect">
            <a:avLst/>
          </a:prstGeom>
          <a:noFill/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9" name="Rectangle 69">
            <a:extLst>
              <a:ext uri="{FF2B5EF4-FFF2-40B4-BE49-F238E27FC236}">
                <a16:creationId xmlns:a16="http://schemas.microsoft.com/office/drawing/2014/main" id="{0DCF8855-3530-4F46-A4CB-3B6686EEE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1723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2" name="Rectangle 61">
            <a:extLst>
              <a:ext uri="{FF2B5EF4-FFF2-40B4-BE49-F238E27FC236}">
                <a16:creationId xmlns:a16="http://schemas.microsoft.com/office/drawing/2014/main" id="{8D0DE514-8876-4D18-A995-61A5C1F81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49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09DA791C-FFCF-422E-8775-BDA6C0E5E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8AF86C-F680-9FF1-098E-834E54A0F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197" y="5120640"/>
            <a:ext cx="10058400" cy="8229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Задание №1</a:t>
            </a:r>
          </a:p>
        </p:txBody>
      </p:sp>
      <p:pic>
        <p:nvPicPr>
          <p:cNvPr id="3" name="Picture" descr="Каталог /etc/my.cnf.d" title="fig:">
            <a:extLst>
              <a:ext uri="{FF2B5EF4-FFF2-40B4-BE49-F238E27FC236}">
                <a16:creationId xmlns:a16="http://schemas.microsoft.com/office/drawing/2014/main" id="{7B9C07B0-ADF3-02F1-2A0C-8ACB9D2D376C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422859" y="643538"/>
            <a:ext cx="7347382" cy="3618586"/>
          </a:xfrm>
          <a:prstGeom prst="rect">
            <a:avLst/>
          </a:prstGeom>
          <a:noFill/>
        </p:spPr>
      </p:pic>
      <p:sp>
        <p:nvSpPr>
          <p:cNvPr id="66" name="Rectangle 65">
            <a:extLst>
              <a:ext uri="{FF2B5EF4-FFF2-40B4-BE49-F238E27FC236}">
                <a16:creationId xmlns:a16="http://schemas.microsoft.com/office/drawing/2014/main" id="{0DCF8855-3530-4F46-A4CB-3B6686EEE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11744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Rectangle 61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8" name="Rectangle 67">
            <a:extLst>
              <a:ext uri="{FF2B5EF4-FFF2-40B4-BE49-F238E27FC236}">
                <a16:creationId xmlns:a16="http://schemas.microsoft.com/office/drawing/2014/main" id="{8D0DE514-8876-4D18-A995-61A5C1F81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49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09DA791C-FFCF-422E-8775-BDA6C0E5E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88535E-2431-BF85-E4A6-C59C43DFCC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197" y="5120640"/>
            <a:ext cx="10058400" cy="8229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Задание №1</a:t>
            </a:r>
          </a:p>
        </p:txBody>
      </p:sp>
      <p:pic>
        <p:nvPicPr>
          <p:cNvPr id="6" name="Picture" descr="Запуск скрипта конфигурации безопасности mariadb" title="fig:">
            <a:extLst>
              <a:ext uri="{FF2B5EF4-FFF2-40B4-BE49-F238E27FC236}">
                <a16:creationId xmlns:a16="http://schemas.microsoft.com/office/drawing/2014/main" id="{4DB35C11-1712-74E8-7DFF-FF7B541B6928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t="6853"/>
          <a:stretch/>
        </p:blipFill>
        <p:spPr bwMode="auto">
          <a:xfrm>
            <a:off x="3321685" y="643538"/>
            <a:ext cx="5549730" cy="3618586"/>
          </a:xfrm>
          <a:prstGeom prst="rect">
            <a:avLst/>
          </a:prstGeom>
          <a:noFill/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72" name="Rectangle 71">
            <a:extLst>
              <a:ext uri="{FF2B5EF4-FFF2-40B4-BE49-F238E27FC236}">
                <a16:creationId xmlns:a16="http://schemas.microsoft.com/office/drawing/2014/main" id="{0DCF8855-3530-4F46-A4CB-3B6686EEE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7119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9" name="Rectangle 48">
            <a:extLst>
              <a:ext uri="{FF2B5EF4-FFF2-40B4-BE49-F238E27FC236}">
                <a16:creationId xmlns:a16="http://schemas.microsoft.com/office/drawing/2014/main" id="{8D0DE514-8876-4D18-A995-61A5C1F81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49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9DA791C-FFCF-422E-8775-BDA6C0E5E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8FEF604-B7AC-3050-7B7D-98387F266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197" y="5120640"/>
            <a:ext cx="10058400" cy="8229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dirty="0" err="1">
                <a:solidFill>
                  <a:srgbClr val="FFFFFF"/>
                </a:solidFill>
              </a:rPr>
              <a:t>Задание</a:t>
            </a:r>
            <a:r>
              <a:rPr lang="en-US" sz="3600" dirty="0">
                <a:solidFill>
                  <a:srgbClr val="FFFFFF"/>
                </a:solidFill>
              </a:rPr>
              <a:t> №</a:t>
            </a:r>
            <a:r>
              <a:rPr lang="ru-RU" sz="3600" dirty="0">
                <a:solidFill>
                  <a:srgbClr val="FFFFFF"/>
                </a:solidFill>
              </a:rPr>
              <a:t>2</a:t>
            </a:r>
            <a:endParaRPr lang="en-US" sz="3600" dirty="0">
              <a:solidFill>
                <a:srgbClr val="FFFFFF"/>
              </a:solidFill>
            </a:endParaRPr>
          </a:p>
        </p:txBody>
      </p:sp>
      <p:pic>
        <p:nvPicPr>
          <p:cNvPr id="6" name="Объект 5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ABBD136-8BB2-38AF-BC5B-14AEB930B1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042891" y="643538"/>
            <a:ext cx="6107318" cy="3618586"/>
          </a:xfrm>
          <a:prstGeom prst="rect">
            <a:avLst/>
          </a:prstGeom>
          <a:noFill/>
        </p:spPr>
      </p:pic>
      <p:sp>
        <p:nvSpPr>
          <p:cNvPr id="53" name="Rectangle 52">
            <a:extLst>
              <a:ext uri="{FF2B5EF4-FFF2-40B4-BE49-F238E27FC236}">
                <a16:creationId xmlns:a16="http://schemas.microsoft.com/office/drawing/2014/main" id="{0DCF8855-3530-4F46-A4CB-3B6686EEE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02783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8D0DE514-8876-4D18-A995-61A5C1F81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49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9DA791C-FFCF-422E-8775-BDA6C0E5E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A8C970-07E5-5256-49FB-35E0130400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197" y="5120640"/>
            <a:ext cx="10058400" cy="82296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Задание</a:t>
            </a:r>
            <a:r>
              <a:rPr lang="en-US" sz="3600" dirty="0">
                <a:solidFill>
                  <a:srgbClr val="FFFFFF"/>
                </a:solidFill>
              </a:rPr>
              <a:t> №</a:t>
            </a:r>
            <a:r>
              <a:rPr lang="en-US" sz="3600">
                <a:solidFill>
                  <a:srgbClr val="FFFFFF"/>
                </a:solidFill>
              </a:rPr>
              <a:t>1</a:t>
            </a:r>
            <a:endParaRPr lang="en-US" sz="3600" dirty="0">
              <a:solidFill>
                <a:srgbClr val="FFFFFF"/>
              </a:solidFill>
            </a:endParaRPr>
          </a:p>
        </p:txBody>
      </p:sp>
      <p:pic>
        <p:nvPicPr>
          <p:cNvPr id="5" name="Picture" descr="Доступыне базы данных" title="fig:">
            <a:extLst>
              <a:ext uri="{FF2B5EF4-FFF2-40B4-BE49-F238E27FC236}">
                <a16:creationId xmlns:a16="http://schemas.microsoft.com/office/drawing/2014/main" id="{87FCCB82-C0B0-D48A-8EA1-9CB9DFF1844B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b="9374"/>
          <a:stretch/>
        </p:blipFill>
        <p:spPr bwMode="auto">
          <a:xfrm>
            <a:off x="2904006" y="643538"/>
            <a:ext cx="6385088" cy="3618586"/>
          </a:xfrm>
          <a:prstGeom prst="rect">
            <a:avLst/>
          </a:prstGeom>
          <a:noFill/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8" name="Rectangle 67">
            <a:extLst>
              <a:ext uri="{FF2B5EF4-FFF2-40B4-BE49-F238E27FC236}">
                <a16:creationId xmlns:a16="http://schemas.microsoft.com/office/drawing/2014/main" id="{0DCF8855-3530-4F46-A4CB-3B6686EEE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24763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Rectangle 40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7" name="Rectangle 46">
            <a:extLst>
              <a:ext uri="{FF2B5EF4-FFF2-40B4-BE49-F238E27FC236}">
                <a16:creationId xmlns:a16="http://schemas.microsoft.com/office/drawing/2014/main" id="{8D0DE514-8876-4D18-A995-61A5C1F81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49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09DA791C-FFCF-422E-8775-BDA6C0E5E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867AB1-596F-AA84-8682-3CCD62781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197" y="5120640"/>
            <a:ext cx="10058400" cy="822960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Задание №2</a:t>
            </a:r>
          </a:p>
        </p:txBody>
      </p:sp>
      <p:pic>
        <p:nvPicPr>
          <p:cNvPr id="6" name="Picture" descr="Статус MariaDB" title="fig:">
            <a:extLst>
              <a:ext uri="{FF2B5EF4-FFF2-40B4-BE49-F238E27FC236}">
                <a16:creationId xmlns:a16="http://schemas.microsoft.com/office/drawing/2014/main" id="{A6157DC5-B72B-DBA7-6191-FE851D8DFF02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t="4299"/>
          <a:stretch/>
        </p:blipFill>
        <p:spPr bwMode="auto">
          <a:xfrm>
            <a:off x="3274806" y="643538"/>
            <a:ext cx="5643487" cy="3618586"/>
          </a:xfrm>
          <a:prstGeom prst="rect">
            <a:avLst/>
          </a:prstGeom>
          <a:noFill/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0DCF8855-3530-4F46-A4CB-3B6686EEE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203581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ectangle 74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77" name="Rectangle 76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79" name="Straight Connector 78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81" name="Rectangle 80">
            <a:extLst>
              <a:ext uri="{FF2B5EF4-FFF2-40B4-BE49-F238E27FC236}">
                <a16:creationId xmlns:a16="http://schemas.microsoft.com/office/drawing/2014/main" id="{8D0DE514-8876-4D18-A995-61A5C1F81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49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09DA791C-FFCF-422E-8775-BDA6C0E5E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867AB1-596F-AA84-8682-3CCD62781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197" y="5120640"/>
            <a:ext cx="10058400" cy="822960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Задание №2</a:t>
            </a:r>
          </a:p>
        </p:txBody>
      </p:sp>
      <p:pic>
        <p:nvPicPr>
          <p:cNvPr id="6" name="Picture" descr="Редактирование файла" title="fig:">
            <a:extLst>
              <a:ext uri="{FF2B5EF4-FFF2-40B4-BE49-F238E27FC236}">
                <a16:creationId xmlns:a16="http://schemas.microsoft.com/office/drawing/2014/main" id="{773B27D7-3566-081C-9645-F04CA0595422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633999" y="1510540"/>
            <a:ext cx="10925102" cy="1884581"/>
          </a:xfrm>
          <a:prstGeom prst="rect">
            <a:avLst/>
          </a:prstGeom>
          <a:noFill/>
        </p:spPr>
      </p:pic>
      <p:sp>
        <p:nvSpPr>
          <p:cNvPr id="85" name="Rectangle 84">
            <a:extLst>
              <a:ext uri="{FF2B5EF4-FFF2-40B4-BE49-F238E27FC236}">
                <a16:creationId xmlns:a16="http://schemas.microsoft.com/office/drawing/2014/main" id="{0DCF8855-3530-4F46-A4CB-3B6686EEE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03480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5665873-4ED7-C3CB-7B2E-189B682CD6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8D0DE514-8876-4D18-A995-61A5C1F81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49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9DA791C-FFCF-422E-8775-BDA6C0E5E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A87105-2FFA-B360-7EE4-2A3BBCC11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197" y="5120640"/>
            <a:ext cx="10058400" cy="822960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Задание №2</a:t>
            </a:r>
          </a:p>
        </p:txBody>
      </p:sp>
      <p:pic>
        <p:nvPicPr>
          <p:cNvPr id="6" name="Picture" descr="Статус MariaDB" title="fig:">
            <a:extLst>
              <a:ext uri="{FF2B5EF4-FFF2-40B4-BE49-F238E27FC236}">
                <a16:creationId xmlns:a16="http://schemas.microsoft.com/office/drawing/2014/main" id="{2A8589CB-A762-E35F-384A-7E2A891384FA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t="5813"/>
          <a:stretch/>
        </p:blipFill>
        <p:spPr bwMode="auto">
          <a:xfrm>
            <a:off x="3362092" y="643538"/>
            <a:ext cx="5468916" cy="3618586"/>
          </a:xfrm>
          <a:prstGeom prst="rect">
            <a:avLst/>
          </a:prstGeom>
          <a:noFill/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34" name="Rectangle 33">
            <a:extLst>
              <a:ext uri="{FF2B5EF4-FFF2-40B4-BE49-F238E27FC236}">
                <a16:creationId xmlns:a16="http://schemas.microsoft.com/office/drawing/2014/main" id="{0DCF8855-3530-4F46-A4CB-3B6686EEE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58069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450F81F-98B4-A9E6-7C9B-485A67E94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8D0DE514-8876-4D18-A995-61A5C1F81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49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9DA791C-FFCF-422E-8775-BDA6C0E5E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7A3FE66-E5F2-4130-EFED-39D903CDDC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197" y="5120640"/>
            <a:ext cx="10058400" cy="822960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Задание №2</a:t>
            </a:r>
          </a:p>
        </p:txBody>
      </p:sp>
      <p:pic>
        <p:nvPicPr>
          <p:cNvPr id="5" name="Picture" descr="Создание базы данных и таблицы" title="fig:">
            <a:extLst>
              <a:ext uri="{FF2B5EF4-FFF2-40B4-BE49-F238E27FC236}">
                <a16:creationId xmlns:a16="http://schemas.microsoft.com/office/drawing/2014/main" id="{384CE9DA-B7EA-780E-8BF3-7E5B7467E036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1683639" y="643538"/>
            <a:ext cx="8825821" cy="3618586"/>
          </a:xfrm>
          <a:prstGeom prst="rect">
            <a:avLst/>
          </a:prstGeom>
          <a:noFill/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0DCF8855-3530-4F46-A4CB-3B6686EEE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98793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AD5E63-3B3E-4AB4-5477-FB150FB56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8D0DE514-8876-4D18-A995-61A5C1F81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49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9DA791C-FFCF-422E-8775-BDA6C0E5E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C5051C0-5C32-6A13-2769-914668AA8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197" y="5120640"/>
            <a:ext cx="10058400" cy="822960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Задание №2</a:t>
            </a:r>
          </a:p>
        </p:txBody>
      </p:sp>
      <p:pic>
        <p:nvPicPr>
          <p:cNvPr id="5" name="Picture" descr="Различные операции по работе с базой данных" title="fig:">
            <a:extLst>
              <a:ext uri="{FF2B5EF4-FFF2-40B4-BE49-F238E27FC236}">
                <a16:creationId xmlns:a16="http://schemas.microsoft.com/office/drawing/2014/main" id="{B4DA328F-E338-F81A-7857-73DB9505DDA3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698818" y="643538"/>
            <a:ext cx="6795464" cy="3618586"/>
          </a:xfrm>
          <a:prstGeom prst="rect">
            <a:avLst/>
          </a:prstGeom>
          <a:noFill/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0DCF8855-3530-4F46-A4CB-3B6686EEE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983314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325FD8-14C8-1AA0-E415-70E6A0CAF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8D0DE514-8876-4D18-A995-61A5C1F81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49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9DA791C-FFCF-422E-8775-BDA6C0E5E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C76C99-D23D-4429-1A36-F1A307054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197" y="5120640"/>
            <a:ext cx="10058400" cy="822960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Задание №2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55336477-74E0-D28E-1BA7-803444AA5F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3999" y="745784"/>
            <a:ext cx="10925102" cy="3414093"/>
          </a:xfrm>
          <a:prstGeom prst="rect">
            <a:avLst/>
          </a:prstGeom>
          <a:noFill/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0DCF8855-3530-4F46-A4CB-3B6686EEE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31395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B35068-CC4E-BBC6-BEB8-8C1D13F82A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E4490D0-3672-446A-AC12-B4830333BD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CB82C2-DF65-4EC1-8280-F201D50F5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7E1D4427-852B-4B37-8E76-0E9F1810BA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8D0DE514-8876-4D18-A995-61A5C1F813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4904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9DA791C-FFCF-422E-8775-BDA6C0E5EC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C48A5FD-096B-5D9C-EC66-06691FAE8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5197" y="5120640"/>
            <a:ext cx="10058400" cy="822960"/>
          </a:xfrm>
        </p:spPr>
        <p:txBody>
          <a:bodyPr vert="horz" lIns="91440" tIns="45720" rIns="91440" bIns="45720" rtlCol="0" anchor="b" anchorCtr="1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Задание №2</a:t>
            </a:r>
          </a:p>
        </p:txBody>
      </p:sp>
      <p:pic>
        <p:nvPicPr>
          <p:cNvPr id="5" name="Объект 4" descr="Изображение выглядит как текст, снимок экрана, программное обеспечение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D5DF6CC-C61F-B0D6-0BD7-8011E30FD2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21044" y="643538"/>
            <a:ext cx="5151011" cy="3618586"/>
          </a:xfrm>
          <a:prstGeom prst="rect">
            <a:avLst/>
          </a:prstGeom>
          <a:noFill/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0DCF8855-3530-4F46-A4CB-3B6686EEE4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92434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90F8ED-0768-A418-5C5D-61B0ACEAED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>
            <a:extLst>
              <a:ext uri="{FF2B5EF4-FFF2-40B4-BE49-F238E27FC236}">
                <a16:creationId xmlns:a16="http://schemas.microsoft.com/office/drawing/2014/main" id="{450968C4-A5C3-3899-618C-EC74F33430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u-RU" dirty="0"/>
              <a:t>В процессе </a:t>
            </a:r>
            <a:r>
              <a:rPr lang="ru-RU" dirty="0" err="1"/>
              <a:t>выполения</a:t>
            </a:r>
            <a:r>
              <a:rPr lang="ru-RU" dirty="0"/>
              <a:t> данной лабораторной работы я приобрел практические навыки по установке и конфигурированию системы управления базами данных на примере программного обеспечения </a:t>
            </a:r>
            <a:r>
              <a:rPr lang="ru-RU" dirty="0" err="1"/>
              <a:t>MariaDB</a:t>
            </a:r>
            <a:r>
              <a:rPr lang="ru-RU" dirty="0"/>
              <a:t>.</a:t>
            </a:r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DD78F1C0-009A-B8EB-5099-A8B1670006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Вывод:</a:t>
            </a:r>
          </a:p>
        </p:txBody>
      </p:sp>
    </p:spTree>
    <p:extLst>
      <p:ext uri="{BB962C8B-B14F-4D97-AF65-F5344CB8AC3E}">
        <p14:creationId xmlns:p14="http://schemas.microsoft.com/office/powerpoint/2010/main" val="2558702166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70</TotalTime>
  <Words>190</Words>
  <Application>Microsoft Office PowerPoint</Application>
  <PresentationFormat>Широкоэкранный</PresentationFormat>
  <Paragraphs>25</Paragraphs>
  <Slides>16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16</vt:i4>
      </vt:variant>
    </vt:vector>
  </HeadingPairs>
  <TitlesOfParts>
    <vt:vector size="19" baseType="lpstr">
      <vt:lpstr>Calibri</vt:lpstr>
      <vt:lpstr>Calibri Light</vt:lpstr>
      <vt:lpstr>Ретро</vt:lpstr>
      <vt:lpstr>Лабораторная работа №6</vt:lpstr>
      <vt:lpstr>Цель</vt:lpstr>
      <vt:lpstr>Задания</vt:lpstr>
      <vt:lpstr>Задание №1</vt:lpstr>
      <vt:lpstr>Задание №1</vt:lpstr>
      <vt:lpstr>Задание №1</vt:lpstr>
      <vt:lpstr>Задание №2</vt:lpstr>
      <vt:lpstr>Задание №1</vt:lpstr>
      <vt:lpstr>Задание №2</vt:lpstr>
      <vt:lpstr>Задание №2</vt:lpstr>
      <vt:lpstr>Задание №2</vt:lpstr>
      <vt:lpstr>Задание №2</vt:lpstr>
      <vt:lpstr>Задание №2</vt:lpstr>
      <vt:lpstr>Задание №2</vt:lpstr>
      <vt:lpstr>Задание №2</vt:lpstr>
      <vt:lpstr>Вывод: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Лабораторная работа №6</dc:title>
  <dc:creator>Беличева Дарья Михайловна</dc:creator>
  <cp:lastModifiedBy>Никита Сахно</cp:lastModifiedBy>
  <cp:revision>24</cp:revision>
  <dcterms:created xsi:type="dcterms:W3CDTF">2023-10-14T19:58:32Z</dcterms:created>
  <dcterms:modified xsi:type="dcterms:W3CDTF">2026-02-11T20:37:28Z</dcterms:modified>
</cp:coreProperties>
</file>